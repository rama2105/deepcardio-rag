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MIT-BIH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46-4353-AC58-C2B4428672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B46-4353-AC58-C2B442867293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46-4353-AC58-C2B442867293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46-4353-AC58-C2B442867293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B46-4353-AC58-C2B442867293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B46-4353-AC58-C2B4428672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SVM-RBF</c:v>
                </c:pt>
                <c:pt idx="1">
                  <c:v>Random
Forest</c:v>
                </c:pt>
                <c:pt idx="2">
                  <c:v>CNN-LSTM</c:v>
                </c:pt>
                <c:pt idx="3">
                  <c:v>ResNet-34</c:v>
                </c:pt>
                <c:pt idx="4">
                  <c:v>Transformer
ED</c:v>
                </c:pt>
                <c:pt idx="5">
                  <c:v>DeepCardio
-RAG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81.3</c:v>
                </c:pt>
                <c:pt idx="1">
                  <c:v>84.7</c:v>
                </c:pt>
                <c:pt idx="2">
                  <c:v>90.5</c:v>
                </c:pt>
                <c:pt idx="3">
                  <c:v>94.2</c:v>
                </c:pt>
                <c:pt idx="4">
                  <c:v>92.8</c:v>
                </c:pt>
                <c:pt idx="5">
                  <c:v>96.3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B46-4353-AC58-C2B4428672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EEAD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EEAD4"/>
                </a:solidFill>
                <a:latin typeface="Arial"/>
              </a:rPr>
              <a:t>BLEU-4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BLEU-4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EC-4593-9973-6C42BA0C97D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0EC-4593-9973-6C42BA0C97D8}"/>
              </c:ext>
            </c:extLst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EC-4593-9973-6C42BA0C97D8}"/>
              </c:ext>
            </c:extLst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EC-4593-9973-6C42BA0C97D8}"/>
              </c:ext>
            </c:extLst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EC-4593-9973-6C42BA0C97D8}"/>
              </c:ext>
            </c:extLst>
          </c:dPt>
          <c:dPt>
            <c:idx val="5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0EC-4593-9973-6C42BA0C97D8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0EC-4593-9973-6C42BA0C97D8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0EC-4593-9973-6C42BA0C97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Seq2Seq</c:v>
                </c:pt>
                <c:pt idx="1">
                  <c:v>Transform
-ED</c:v>
                </c:pt>
                <c:pt idx="2">
                  <c:v>GPT-4
Zero-Shot</c:v>
                </c:pt>
                <c:pt idx="3">
                  <c:v>GPT-4
Few-Shot</c:v>
                </c:pt>
                <c:pt idx="4">
                  <c:v>Claude-3.5</c:v>
                </c:pt>
                <c:pt idx="5">
                  <c:v>Med-PaLM 2</c:v>
                </c:pt>
                <c:pt idx="6">
                  <c:v>Standard
RAG</c:v>
                </c:pt>
                <c:pt idx="7">
                  <c:v>DeepCardio
-RAG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0.623</c:v>
                </c:pt>
                <c:pt idx="1">
                  <c:v>0.74199999999999999</c:v>
                </c:pt>
                <c:pt idx="2">
                  <c:v>0.68899999999999995</c:v>
                </c:pt>
                <c:pt idx="3">
                  <c:v>0.76400000000000001</c:v>
                </c:pt>
                <c:pt idx="4">
                  <c:v>0.77800000000000002</c:v>
                </c:pt>
                <c:pt idx="5">
                  <c:v>0.80100000000000005</c:v>
                </c:pt>
                <c:pt idx="6">
                  <c:v>0.79500000000000004</c:v>
                </c:pt>
                <c:pt idx="7">
                  <c:v>0.84699999999999998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0EC-4593-9973-6C42BA0C97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5000000000000004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7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EEAD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EEAD4"/>
                </a:solidFill>
                <a:latin typeface="Arial"/>
              </a:rPr>
              <a:t>Accuracy (%) — Full vs Ablated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DA-47ED-A226-BCA7B422AAE2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DA-47ED-A226-BCA7B422AAE2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DA-47ED-A226-BCA7B422AAE2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DA-47ED-A226-BCA7B422AAE2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DA-47ED-A226-BCA7B422AAE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 System</c:v>
                </c:pt>
                <c:pt idx="1">
                  <c:v>w/o RAG</c:v>
                </c:pt>
                <c:pt idx="2">
                  <c:v>w/o ECG
Encoder</c:v>
                </c:pt>
                <c:pt idx="3">
                  <c:v>w/o Attention</c:v>
                </c:pt>
                <c:pt idx="4">
                  <c:v>w/o Knowledge
Base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96.3</c:v>
                </c:pt>
                <c:pt idx="1">
                  <c:v>83.9</c:v>
                </c:pt>
                <c:pt idx="2">
                  <c:v>78.2</c:v>
                </c:pt>
                <c:pt idx="3">
                  <c:v>91.7</c:v>
                </c:pt>
                <c:pt idx="4">
                  <c:v>87.6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DA-47ED-A226-BCA7B422AA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7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A9-4A0D-9A21-4F454C06D3B0}"/>
              </c:ext>
            </c:extLst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A9-4A0D-9A21-4F454C06D3B0}"/>
              </c:ext>
            </c:extLst>
          </c:dPt>
          <c:dPt>
            <c:idx val="2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A9-4A0D-9A21-4F454C06D3B0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A9-4A0D-9A21-4F454C06D3B0}"/>
              </c:ext>
            </c:extLst>
          </c:dPt>
          <c:dPt>
            <c:idx val="4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A9-4A0D-9A21-4F454C06D3B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A9-4A0D-9A21-4F454C06D3B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A9-4A0D-9A21-4F454C06D3B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A9-4A0D-9A21-4F454C06D3B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A9-4A0D-9A21-4F454C06D3B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A9-4A0D-9A21-4F454C06D3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Artifact
Misinterpretation</c:v>
                </c:pt>
                <c:pt idx="1">
                  <c:v>Rare
Variants</c:v>
                </c:pt>
                <c:pt idx="2">
                  <c:v>Borderline
Cases</c:v>
                </c:pt>
                <c:pt idx="3">
                  <c:v>Multi-Rhythm
Complexity</c:v>
                </c:pt>
                <c:pt idx="4">
                  <c:v>Retrieval
Errors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24</c:v>
                </c:pt>
                <c:pt idx="2">
                  <c:v>19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A9-4A0D-9A21-4F454C06D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99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931920"/>
            <a:ext cx="2743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3931920"/>
            <a:ext cx="137160" cy="45720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086600" y="3474720"/>
            <a:ext cx="137160" cy="82296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297680"/>
            <a:ext cx="91440" cy="36576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931920"/>
            <a:ext cx="16459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DeepCardio-RAG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Retrieval-Augmented Generation Framework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Automated Clinical Report Generation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Cardiac Arrhythmia Diagnosis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11480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Rama Rao  |  Computer Science and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365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</a:rPr>
              <a:t>Key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777240"/>
            <a:ext cx="2194560" cy="914400"/>
          </a:xfrm>
          <a:prstGeom prst="rect">
            <a:avLst/>
          </a:prstGeom>
          <a:solidFill>
            <a:srgbClr val="13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8229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96.3%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1298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Diagnostic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Accuracy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2194560" cy="914400"/>
          </a:xfrm>
          <a:prstGeom prst="rect">
            <a:avLst/>
          </a:prstGeom>
          <a:solidFill>
            <a:srgbClr val="13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874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BLEU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0.847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Report Quality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2880360"/>
            <a:ext cx="2194560" cy="914400"/>
          </a:xfrm>
          <a:prstGeom prst="rect">
            <a:avLst/>
          </a:prstGeom>
          <a:solidFill>
            <a:srgbClr val="13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29260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78%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75120" y="34015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Hallucination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Reduction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75120" y="3931920"/>
            <a:ext cx="2194560" cy="914400"/>
          </a:xfrm>
          <a:prstGeom prst="rect">
            <a:avLst/>
          </a:prstGeom>
          <a:solidFill>
            <a:srgbClr val="13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977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1.8s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44531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Per Report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393192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CLINICAL BURDEN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822960" cy="3840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00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17.9M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CVD deaths annually (WHO)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58568"/>
            <a:ext cx="822960" cy="3840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35–40%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304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Cardiologist time on documentation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16936"/>
            <a:ext cx="822960" cy="3840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169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78–92%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9626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Inter-observer concordance variability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575304"/>
            <a:ext cx="822960" cy="3840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5753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23–37%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6210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</a:rPr>
              <a:t>LLM hallucination rate in reports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1143000"/>
            <a:ext cx="4297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143000"/>
            <a:ext cx="4297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1430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LIMITATIONS OF CURRENT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636776"/>
            <a:ext cx="54864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15727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No Contextual Integration: </a:t>
            </a:r>
            <a:r>
              <a:rPr lang="en-US" sz="950" dirty="0">
                <a:solidFill>
                  <a:srgbClr val="0A1628"/>
                </a:solidFill>
              </a:rPr>
              <a:t>ECG-only input; no clinical guidelines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176272"/>
            <a:ext cx="54864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21122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Black-Box Models: </a:t>
            </a:r>
            <a:r>
              <a:rPr lang="en-US" sz="950" dirty="0">
                <a:solidFill>
                  <a:srgbClr val="0A1628"/>
                </a:solidFill>
              </a:rPr>
              <a:t>No reasoning transparency for clinicians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715768"/>
            <a:ext cx="54864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26517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Hallucinations: </a:t>
            </a:r>
            <a:r>
              <a:rPr lang="en-US" sz="950" dirty="0">
                <a:solidFill>
                  <a:srgbClr val="0A1628"/>
                </a:solidFill>
              </a:rPr>
              <a:t>LLMs fabricate plausible but false facts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255264"/>
            <a:ext cx="54864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319125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Knowledge Staleness: </a:t>
            </a:r>
            <a:r>
              <a:rPr lang="en-US" sz="950" dirty="0">
                <a:solidFill>
                  <a:srgbClr val="0A1628"/>
                </a:solidFill>
              </a:rPr>
              <a:t>Frozen training-time medical knowledge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794760"/>
            <a:ext cx="54864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37307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No Source Attribution: </a:t>
            </a:r>
            <a:r>
              <a:rPr lang="en-US" sz="950" dirty="0">
                <a:solidFill>
                  <a:srgbClr val="0A1628"/>
                </a:solidFill>
              </a:rPr>
              <a:t>No verifiable citations to literature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DeepCardio-RAG: Three-Stage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35204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97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89888" y="1600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38988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ECG 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" y="2816352"/>
            <a:ext cx="6400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76148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1D-CNN (ResNet-34)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3163824"/>
            <a:ext cx="6400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31089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256-dim embeddings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" y="3511296"/>
            <a:ext cx="6400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45643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94.7% 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2926080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143000"/>
            <a:ext cx="2697480" cy="35204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143000"/>
            <a:ext cx="2697480" cy="411480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24528" y="1600200"/>
            <a:ext cx="566928" cy="566928"/>
          </a:xfrm>
          <a:prstGeom prst="ellipse">
            <a:avLst/>
          </a:prstGeom>
          <a:solidFill>
            <a:srgbClr val="1D6FAF"/>
          </a:solidFill>
          <a:ln/>
        </p:spPr>
      </p:sp>
      <p:sp>
        <p:nvSpPr>
          <p:cNvPr id="24" name="Text 22"/>
          <p:cNvSpPr/>
          <p:nvPr/>
        </p:nvSpPr>
        <p:spPr>
          <a:xfrm>
            <a:off x="422452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5468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Knowledge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Retrieval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19272" y="2816352"/>
            <a:ext cx="64008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276148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Milvus Vector 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9272" y="3163824"/>
            <a:ext cx="64008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29" name="Text 27"/>
          <p:cNvSpPr/>
          <p:nvPr/>
        </p:nvSpPr>
        <p:spPr>
          <a:xfrm>
            <a:off x="3447288" y="31089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50K+ clinical cases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9272" y="3511296"/>
            <a:ext cx="64008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31" name="Text 29"/>
          <p:cNvSpPr/>
          <p:nvPr/>
        </p:nvSpPr>
        <p:spPr>
          <a:xfrm>
            <a:off x="3447288" y="345643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Top-K=5 semantic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2926080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1143000"/>
            <a:ext cx="2697480" cy="35204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1143000"/>
            <a:ext cx="2697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59168" y="160020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705916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8932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53912" y="2816352"/>
            <a:ext cx="6400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281928" y="276148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GPT-2 Transformer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53912" y="3163824"/>
            <a:ext cx="6400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281928" y="31089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RAG Attention Fusion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53912" y="3511296"/>
            <a:ext cx="6400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281928" y="345643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+ Source Citations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0040" y="4736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</a:rPr>
              <a:t>12-Lead ECG Signal (5000×12)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9320" y="4736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AD4"/>
                </a:solidFill>
              </a:rPr>
              <a:t>Clinical Report + Citations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Encoder: ResNet-34 Based 1D-CNN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554480" cy="10972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12-Lead ECG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5000×12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73736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6276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188720"/>
            <a:ext cx="1554480" cy="1097280"/>
          </a:xfrm>
          <a:prstGeom prst="rect">
            <a:avLst/>
          </a:prstGeom>
          <a:solidFill>
            <a:srgbClr val="1D6FA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0" y="12070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Stem Block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Conv1D k=15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BN+ReLU+Pool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173736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6276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12070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Residual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[3,4,6,3] units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64→512 ch.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94960" y="173736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6276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188720"/>
            <a:ext cx="1554480" cy="10972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2070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Global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AvgPool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FC 512→256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32320" y="173736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6276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188720"/>
            <a:ext cx="1554480" cy="109728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12070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Embedding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256-dim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1FAF5"/>
                </a:solidFill>
              </a:rPr>
              <a:t>f_ecg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578608"/>
            <a:ext cx="54864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" y="2514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Kernel Size = 15: </a:t>
            </a:r>
            <a:r>
              <a:rPr lang="en-US" sz="900" dirty="0">
                <a:solidFill>
                  <a:srgbClr val="334155"/>
                </a:solidFill>
              </a:rPr>
              <a:t>Captures P-wave, QRS complex &amp; T-wave morphologies at 250Hz (60ms window)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578608"/>
            <a:ext cx="54864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2514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Multi-Scale Features: </a:t>
            </a:r>
            <a:r>
              <a:rPr lang="en-US" sz="900" dirty="0">
                <a:solidFill>
                  <a:srgbClr val="334155"/>
                </a:solidFill>
              </a:rPr>
              <a:t>Hierarchical downsampling extracts local waveforms and global rhythm patterns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328416"/>
            <a:ext cx="54864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" y="326440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Lead Independence: </a:t>
            </a:r>
            <a:r>
              <a:rPr lang="en-US" sz="900" dirty="0">
                <a:solidFill>
                  <a:srgbClr val="334155"/>
                </a:solidFill>
              </a:rPr>
              <a:t>Each lead processed independently preserving V1-V2, I-aVL diagnostic information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328416"/>
            <a:ext cx="54864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326440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Residual Learning: </a:t>
            </a:r>
            <a:r>
              <a:rPr lang="en-US" sz="900" dirty="0">
                <a:solidFill>
                  <a:srgbClr val="334155"/>
                </a:solidFill>
              </a:rPr>
              <a:t>Skip connections h_{l+1} = F(h_l, θ_l) + h_l prevent vanishing gradients in 34 layers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078224"/>
            <a:ext cx="54864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" y="401421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Dropout p=0.5: </a:t>
            </a:r>
            <a:r>
              <a:rPr lang="en-US" sz="900" dirty="0">
                <a:solidFill>
                  <a:srgbClr val="334155"/>
                </a:solidFill>
              </a:rPr>
              <a:t>Regularization for generalization across patient populations and recording devices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78224"/>
            <a:ext cx="54864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782312" y="401421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Compression: </a:t>
            </a:r>
            <a:r>
              <a:rPr lang="en-US" sz="900" dirty="0">
                <a:solidFill>
                  <a:srgbClr val="334155"/>
                </a:solidFill>
              </a:rPr>
              <a:t>60,000 parameters (5000×12) compressed to 256-dim embedding retaining diagnostics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Knowledge Base: Milvus Vector Database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365760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1664208"/>
            <a:ext cx="1005840" cy="33832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66420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50,127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27632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Total documents indexed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185416"/>
            <a:ext cx="1005840" cy="33832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18541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768-dim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SentenceBERT embeddings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706624"/>
            <a:ext cx="1005840" cy="33832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70662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IVF_FLAT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nlist=2048, O(√n) search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227832"/>
            <a:ext cx="1005840" cy="33832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22783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L2 distance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27632" y="32644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Semantic similarity metric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3749040"/>
            <a:ext cx="1005840" cy="33832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" y="37490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Top-K=5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27632" y="3785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Optimal retrieval depth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143000"/>
            <a:ext cx="4114800" cy="365760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143000"/>
            <a:ext cx="4114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 CORPUS BREAKDOWN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737360"/>
            <a:ext cx="3017520" cy="2011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1737360"/>
            <a:ext cx="2576962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Annotated Case Studies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6FAF"/>
                </a:solidFill>
              </a:rPr>
              <a:t>42,850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249424"/>
            <a:ext cx="3017520" cy="2011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2249424"/>
            <a:ext cx="289682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Research Literature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0" y="2139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4,830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761488"/>
            <a:ext cx="3017520" cy="2011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2761488"/>
            <a:ext cx="13716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Clinical Guidelines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15200" y="2651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</a:rPr>
              <a:t>1,247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273552"/>
            <a:ext cx="3017520" cy="2011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0" name="Shape 38"/>
          <p:cNvSpPr/>
          <p:nvPr/>
        </p:nvSpPr>
        <p:spPr>
          <a:xfrm>
            <a:off x="4754880" y="3273552"/>
            <a:ext cx="1371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Diagnostic Criteria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15200" y="3163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</a:rPr>
              <a:t>950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785616"/>
            <a:ext cx="3017520" cy="2011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785616"/>
            <a:ext cx="13716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3675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Differential Diagnoses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1520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</a:rPr>
              <a:t>250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Attention Mechanism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011680"/>
            <a:ext cx="1371600" cy="9144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2011680"/>
            <a:ext cx="1463040" cy="914400"/>
          </a:xfrm>
          <a:prstGeom prst="rect">
            <a:avLst/>
          </a:prstGeom>
          <a:solidFill>
            <a:srgbClr val="1D6FA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  K  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3320" y="2011680"/>
            <a:ext cx="155448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8-Head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Attention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011680"/>
            <a:ext cx="1417320" cy="9144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Residual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2011680"/>
            <a:ext cx="1508760" cy="91440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20116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f'_ecg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46888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235000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46888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35000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246888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235000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246888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235000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Retrieved Docs 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2944368"/>
            <a:ext cx="0" cy="14630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29000"/>
            <a:ext cx="4069080" cy="548640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Query Projection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3429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FC_Q(f_ecg) ∈ ℝ^(d_k)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87368"/>
            <a:ext cx="4069080" cy="548640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4087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Attention Weights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0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α_k = softmax(Q·K_k^T / √d_k)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29000"/>
            <a:ext cx="4069080" cy="548640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Context Aggregation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429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c_agg = Σ α_k V_k   (K=5 docs)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087368"/>
            <a:ext cx="4069080" cy="548640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73168" y="4087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Residual Fusion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f'_ecg = LayerNorm(f_ecg + FC(c_agg))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</a:rPr>
              <a:t>d_k = d_v = 512  |  8 Attention Heads  |  Retrieval K=5 (optimal from ablation)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EXPERIMENTS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Training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23774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743200" cy="347472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MIT-BIH Arrhythmia DB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591056"/>
            <a:ext cx="54864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361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48 recordings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54864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8366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109,446 heartbeat segments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54864" cy="201168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3113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15 arrhythmia classes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468880" cy="25603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EAD4"/>
                </a:solidFill>
              </a:rPr>
              <a:t>NSR · AF · VT · BR · SVT · PVC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64408" y="1143000"/>
            <a:ext cx="2743200" cy="23774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143000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264408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PTB-XL Database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01568" y="159105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511296" y="15361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21,837 12-lead ECGs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01568" y="1938528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511296" y="188366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18,885 patients @ 500Hz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286000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511296" y="223113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Expert annotations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01568" y="2651760"/>
            <a:ext cx="2468880" cy="25603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EAD4"/>
                </a:solidFill>
              </a:rPr>
              <a:t>NSR · AF · 1AVB · LBBB · RBBB · 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08776" y="1143000"/>
            <a:ext cx="2743200" cy="23774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1143000"/>
            <a:ext cx="27432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208776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Clinical Guidelines Corpus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45936" y="1591056"/>
            <a:ext cx="54864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15361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50,127 documents total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45936" y="1938528"/>
            <a:ext cx="54864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455664" y="188366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2023 AHA/ACC/ESC Guidelines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45936" y="2286000"/>
            <a:ext cx="54864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223113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4,830 PubMed abstracts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45936" y="2651760"/>
            <a:ext cx="2468880" cy="25603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EAD4"/>
                </a:solidFill>
              </a:rPr>
              <a:t>IRB-approved · De-identified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3657600"/>
            <a:ext cx="8458200" cy="128016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0040" y="3657600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THREE-STAGE TRAINING STRATEGY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005072"/>
            <a:ext cx="329184" cy="329184"/>
          </a:xfrm>
          <a:prstGeom prst="ellipse">
            <a:avLst/>
          </a:prstGeom>
          <a:solidFill>
            <a:srgbClr val="1D6FA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ECG Encoder Pre-training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41248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Cross-entropy loss · 50 epochs · LR 1e-3 · 94.2% validation accuracy (MIT-BIH)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91840" y="4005072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75888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Retrieval Optimization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75888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Contrastive loss (τ=0.07) · Aligns ECG ↔ text embedding spaces · 20 epochs · batch 128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26480" y="4005072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10528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End-to-End Fine-tuning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10528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Joint L_total = L_gen + 0.5·L_cov · 30 epochs · LR 5e-5 · 72 hours on 4×A100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Classification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14300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315468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MIT-BIH Acc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PTB-XL Acc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ResNet-34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94.2%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92.9%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93.5%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93.1%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GPT-4 Zero-Shot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N/A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N/A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N/A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N/A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DeepCardio-RAG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96.3%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94.8%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95.8%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94.9%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063240"/>
            <a:ext cx="3154680" cy="13716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30632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EAD4"/>
                </a:solidFill>
              </a:rPr>
              <a:t>DeepCardio-RAG outperforms all baselines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↑ 2.1%  vs. ResNet-34 (MIT-BIH)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715000" y="3758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↑ 1.9%  vs. ResNet-34 (PTB-XL)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15000" y="4059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96.3%  State-of-the-art accuracy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5760" y="4526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</a:rPr>
              <a:t>Best per-class: NSR 98.7% · AF 97.2%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Quality (PTB-XL Test Set)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14300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170432"/>
            <a:ext cx="28346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216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BLEU-4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0" y="1472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Ours: 0.847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35040" y="1691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Best: 0.801 (Med-PaLM)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909560" y="1371600"/>
            <a:ext cx="685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13716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+5.7%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2066544"/>
            <a:ext cx="28346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ROUGE-L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23682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Ours: 0.891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35040" y="2587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Best: 0.837 (Med-PaLM)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909560" y="2267712"/>
            <a:ext cx="685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7909560" y="22677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+6.5%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2962656"/>
            <a:ext cx="28346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3504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METEOR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3264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Ours: 0.863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035040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Best: 0.815 (Med-PaLM)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909560" y="3163824"/>
            <a:ext cx="685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7909560" y="31638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+5.9%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97880" y="3858768"/>
            <a:ext cx="28346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3504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BERTScore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504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Ours: 0.928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035040" y="4379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Best: 0.901 (Med-PaLM)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909560" y="4059936"/>
            <a:ext cx="685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7909560" y="405993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+3.0%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Reduction &amp; Clinical Validity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20624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HALLUCINATION RATE (%)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GPT-4 Zero-Shot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1700784"/>
            <a:ext cx="3474720" cy="2103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176272" y="1700784"/>
            <a:ext cx="3252338" cy="2103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687568" y="1645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23.4%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GPT-4 Few-Shot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76272" y="2139696"/>
            <a:ext cx="3474720" cy="2103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2176272" y="2139696"/>
            <a:ext cx="2599091" cy="2103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687568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18.7%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23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Claude-3.5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76272" y="2578608"/>
            <a:ext cx="3474720" cy="2103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176272" y="2578608"/>
            <a:ext cx="2112630" cy="2103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687568" y="25237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15.2%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9626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Med-PaLM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76272" y="3017520"/>
            <a:ext cx="3474720" cy="2103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2176272" y="3017520"/>
            <a:ext cx="1640068" cy="210312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4" name="Text 22"/>
          <p:cNvSpPr/>
          <p:nvPr/>
        </p:nvSpPr>
        <p:spPr>
          <a:xfrm>
            <a:off x="5687568" y="29626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B308"/>
                </a:solidFill>
              </a:rPr>
              <a:t>11.8%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Standard RAG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76272" y="3456432"/>
            <a:ext cx="3474720" cy="2103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2176272" y="3456432"/>
            <a:ext cx="1195304" cy="21031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34015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</a:rPr>
              <a:t>8.6%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DeepCardio-RAG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76272" y="3895344"/>
            <a:ext cx="3474720" cy="21031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76272" y="3895344"/>
            <a:ext cx="708843" cy="2103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5687568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5.1%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407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78% reduction vs GPT-4 Zero-Shot  (23.4% → 5.1%)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114300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143000"/>
            <a:ext cx="39319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EXPERT CLINICAL EVALUATION (n=500)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</a:rPr>
              <a:t>Metric   Ours   Human   Prev.Best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92040" y="1883664"/>
            <a:ext cx="374904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1929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Clinical Acceptability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83680" y="192938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92.7%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78040" y="192938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97.8%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772400" y="192938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84.2%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92040" y="2368296"/>
            <a:ext cx="37490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956048" y="24140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Factual Accuracy (1–5)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83680" y="241401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4.52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241401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4.89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772400" y="241401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4.31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92040" y="2852928"/>
            <a:ext cx="374904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2898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Guideline Consistency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583680" y="28986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4.41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78040" y="28986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4.76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772400" y="28986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4.15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92040" y="3337560"/>
            <a:ext cx="37490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956048" y="3383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Diagnostic Correctness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583680" y="338328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95.3%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78040" y="338328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98.1%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72400" y="338328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91.8%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92040" y="3822192"/>
            <a:ext cx="374904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4956048" y="3867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Completeness (1–5)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583680" y="386791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4.63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78040" y="386791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4.82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72400" y="386791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4.39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0060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</a:rPr>
              <a:t>Fleiss Kappa κ=0.78 (substantial inter-rater agreement)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Study: Component Contributions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1430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170432"/>
            <a:ext cx="30632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170432"/>
            <a:ext cx="91440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779008" y="12070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RAG Integration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79008" y="14813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</a:rPr>
              <a:t>-12.4%  |  -14.7pt BLEU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79008" y="17007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↑ 14.7% halluc.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623560" y="2084832"/>
            <a:ext cx="30632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23560" y="2084832"/>
            <a:ext cx="91440" cy="804672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14" name="Text 11"/>
          <p:cNvSpPr/>
          <p:nvPr/>
        </p:nvSpPr>
        <p:spPr>
          <a:xfrm>
            <a:off x="5779008" y="2121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ECG Encoder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79008" y="23957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D6FAF"/>
                </a:solidFill>
              </a:rPr>
              <a:t>-18.1%  |  -19.6pt BLEU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79008" y="26151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Highest accuracy loss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623560" y="2999232"/>
            <a:ext cx="30632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23560" y="2999232"/>
            <a:ext cx="9144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5779008" y="30358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Attention Mechanism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79008" y="33101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-4.6%  |  -5.8pt BLEU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779008" y="35295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Concat fusion inferior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623560" y="3913632"/>
            <a:ext cx="3063240" cy="804672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23560" y="3913632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5779008" y="3950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Retrieval Depth K=5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779008" y="42245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Optimal K  |  K=1: -6.9% acc.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79008" y="44439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K=10: noise/no gain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EEAD4"/>
                </a:solidFill>
              </a:rPr>
              <a:t>All four components are essential — removing any single component significantly degrades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 &amp; Error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06908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INFERENCE TIME BREAKDOWN  (Total: 1.8s)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ECG Preprocessing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30552" y="1655064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130552" y="1655064"/>
            <a:ext cx="503149" cy="19202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0020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127ms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50408" y="160020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7.1%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1947672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ECG Encoder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30552" y="2002536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130552" y="2002536"/>
            <a:ext cx="956691" cy="192024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947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D6FAF"/>
                </a:solidFill>
              </a:rPr>
              <a:t>243ms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0408" y="194767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13.5%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229514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Vector DB Query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30552" y="2350008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130552" y="2350008"/>
            <a:ext cx="1644091" cy="1920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9514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D9488"/>
                </a:solidFill>
              </a:rPr>
              <a:t>418ms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50408" y="2295144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23.2%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" y="2642616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Embedding Retrieval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30552" y="2697480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130552" y="2697480"/>
            <a:ext cx="616534" cy="19202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6426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4B8A6"/>
                </a:solidFill>
              </a:rPr>
              <a:t>156ms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50408" y="2642616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8.7%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" y="299008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RAG Attention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30552" y="3044952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30552" y="3044952"/>
            <a:ext cx="744093" cy="1920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9900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C3AED"/>
                </a:solidFill>
              </a:rPr>
              <a:t>189ms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0408" y="2990088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10.5%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33375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Report Generation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30552" y="3392424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2130552" y="3392424"/>
            <a:ext cx="2565349" cy="192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3375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</a:rPr>
              <a:t>651ms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50408" y="3337560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36.2%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" y="3685032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Post-processing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30552" y="3739896"/>
            <a:ext cx="2834640" cy="19202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2130552" y="3739896"/>
            <a:ext cx="63779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6850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16ms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50408" y="368503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0.9%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44348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Clinical real-time threshold: &lt; 5s  ✓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114300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1143000"/>
            <a:ext cx="406908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1143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ERROR ANALYSIS  (100 incorrect diagnoses)</a:t>
            </a:r>
            <a:endParaRPr lang="en-US" sz="950" dirty="0"/>
          </a:p>
        </p:txBody>
      </p:sp>
      <p:graphicFrame>
        <p:nvGraphicFramePr>
          <p:cNvPr id="48" name="Chart 0"/>
          <p:cNvGraphicFramePr/>
          <p:nvPr/>
        </p:nvGraphicFramePr>
        <p:xfrm>
          <a:off x="4663440" y="1508760"/>
          <a:ext cx="21945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Shape 46"/>
          <p:cNvSpPr/>
          <p:nvPr/>
        </p:nvSpPr>
        <p:spPr>
          <a:xfrm>
            <a:off x="7040880" y="166420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7"/>
          <p:cNvSpPr/>
          <p:nvPr/>
        </p:nvSpPr>
        <p:spPr>
          <a:xfrm>
            <a:off x="7269480" y="15727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Artifact Misinterpretation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138160" y="1572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</a:rPr>
              <a:t>38%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040880" y="2139696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3" name="Text 50"/>
          <p:cNvSpPr/>
          <p:nvPr/>
        </p:nvSpPr>
        <p:spPr>
          <a:xfrm>
            <a:off x="7269480" y="20482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Rare Variants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138160" y="20482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97316"/>
                </a:solidFill>
              </a:rPr>
              <a:t>24%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040880" y="2615184"/>
            <a:ext cx="164592" cy="164592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6" name="Text 53"/>
          <p:cNvSpPr/>
          <p:nvPr/>
        </p:nvSpPr>
        <p:spPr>
          <a:xfrm>
            <a:off x="7269480" y="25237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Borderline Cases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138160" y="25237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AB308"/>
                </a:solidFill>
              </a:rPr>
              <a:t>19%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7040880" y="3090672"/>
            <a:ext cx="164592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9" name="Text 56"/>
          <p:cNvSpPr/>
          <p:nvPr/>
        </p:nvSpPr>
        <p:spPr>
          <a:xfrm>
            <a:off x="7269480" y="29992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Multi-Rhythm Complexity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138160" y="2999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12%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040880" y="3566160"/>
            <a:ext cx="164592" cy="1645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2" name="Text 59"/>
          <p:cNvSpPr/>
          <p:nvPr/>
        </p:nvSpPr>
        <p:spPr>
          <a:xfrm>
            <a:off x="7269480" y="3474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Retrieval Errors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138160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66F1"/>
                </a:solidFill>
              </a:rPr>
              <a:t>7%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Implications &amp;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16916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389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Efficiency Gains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Reduces cardiologist documentation time by 35–40%, enabling reallocation to direct patient care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14800" cy="16916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114800" cy="54864"/>
          </a:xfrm>
          <a:prstGeom prst="rect">
            <a:avLst/>
          </a:prstGeom>
          <a:solidFill>
            <a:srgbClr val="1D6FA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1D6FA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1389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Consistency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RAG-grounded generation ensures all reports adhere to current AHA/ACC/ESC guidelines, reducing inter-observer variability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14800" cy="16916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5468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355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Educational Value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Transparent attention weights and source citations provide educational scaffolding linking ECG findings to literature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4114800" cy="1691640"/>
          </a:xfrm>
          <a:prstGeom prst="rect">
            <a:avLst/>
          </a:prstGeom>
          <a:solidFill>
            <a:srgbClr val="0F27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1546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33375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355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Underserved Areas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Provides preliminary ECG interpretation in regions with limited cardiologist access for urgent triage decisions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9E0B"/>
                </a:solidFill>
              </a:rPr>
              <a:t>⚠  DeepCardio-RAG is designed to AUGMENT — not REPLACE — clinical judgment. Final decisions rest with qualified physicians.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LIMITATIONS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82496"/>
            <a:ext cx="1005840" cy="292608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82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Scope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81912" y="16276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Two public datasets (MIT-BIH, PTB-XL) may not represent full clinical diversity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1005840" cy="292608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194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Proxy Labels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1912" y="21396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No gold-standard ECG-arrhythmia labels; expert annotation study needed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706624"/>
            <a:ext cx="1005840" cy="292608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706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Single Modality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81912" y="2651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ECG-only; no patient demographics, medications, or lab results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1005840" cy="292608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18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LLM Scale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81912" y="31638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GPT-2 Medium; larger medical LLM would improve report quality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1005840" cy="292608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730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Uncertainty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81912" y="3675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No principled epistemic vs aleatoric uncertainty quantification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114300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1143000"/>
            <a:ext cx="42062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1143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 DIRECTIONS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1682496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62763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Prospective Validation: </a:t>
            </a:r>
            <a:r>
              <a:rPr lang="en-US" sz="850" dirty="0">
                <a:solidFill>
                  <a:srgbClr val="334155"/>
                </a:solidFill>
              </a:rPr>
              <a:t>Clinical trial with electrophysiology-confirmed arrhythmia labels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81728" y="219456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1396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Regulatory Pathway: </a:t>
            </a:r>
            <a:r>
              <a:rPr lang="en-US" sz="850" dirty="0">
                <a:solidFill>
                  <a:srgbClr val="334155"/>
                </a:solidFill>
              </a:rPr>
              <a:t>FDA 510(k) clearance / De Novo classification as Software as Medical Device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81728" y="2706624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6517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Multi-Modal Fusion: </a:t>
            </a:r>
            <a:r>
              <a:rPr lang="en-US" sz="850" dirty="0">
                <a:solidFill>
                  <a:srgbClr val="334155"/>
                </a:solidFill>
              </a:rPr>
              <a:t>Add patient demographics, medication history, and lab results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81728" y="3218688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16382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Larger LLM: </a:t>
            </a:r>
            <a:r>
              <a:rPr lang="en-US" sz="850" dirty="0">
                <a:solidFill>
                  <a:srgbClr val="334155"/>
                </a:solidFill>
              </a:rPr>
              <a:t>BioMedLM / MedPaLM 2 integration for better clinical language generation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81728" y="3730752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7588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Federated Learning: </a:t>
            </a:r>
            <a:r>
              <a:rPr lang="en-US" sz="850" dirty="0">
                <a:solidFill>
                  <a:srgbClr val="334155"/>
                </a:solidFill>
              </a:rPr>
              <a:t>Cross-hospital training without centralizing patient data (privacy-preserving)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7899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State-of-the-Art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96.3% diagnostic accuracy on MIT-BIH, surpassing all baselines including GPT-4 and Med-PaLM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Superior Report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65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BLEU-4: 0.847 | ROUGE-L: 0.891 — best-in-class report generation with clinical structure and citations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78% Hallucination Reduction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RAG-grounded generation reduces fabricated clinical facts from 23.4% (GPT-4) to 5.1%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Real-Time Clinical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1.8 seconds per report on a single A100 GPU — suitable for point-of-care integration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Transparent &amp; Interpretable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Attention weights and source citations enable clinicians to validate and trust AI-generated reports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N. Rama Rao  |  DeepCardio-RAG  |  December 2025  |  "Trustworthy AI that augments, not replaces, clinical expertise"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</Words>
  <Application>Microsoft Office PowerPoint</Application>
  <PresentationFormat>On-screen Show (16:9)</PresentationFormat>
  <Paragraphs>372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DeepCardio-RAG</dc:title>
  <dc:subject>PptxGenJS Presentation</dc:subject>
  <dc:creator>N Rama Rao</dc:creator>
  <cp:lastModifiedBy>N SOUMYA</cp:lastModifiedBy>
  <cp:revision>1</cp:revision>
  <dcterms:created xsi:type="dcterms:W3CDTF">2026-03-29T10:30:23Z</dcterms:created>
  <dcterms:modified xsi:type="dcterms:W3CDTF">2026-03-29T10:40:06Z</dcterms:modified>
</cp:coreProperties>
</file>